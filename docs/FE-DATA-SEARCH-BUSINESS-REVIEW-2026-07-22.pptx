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6b649121234bf9" /><Relationship Type="http://schemas.openxmlformats.org/officeDocument/2006/relationships/extended-properties" Target="/docProps/app.xml" Id="Ref8dc79e0e644018" /><Relationship Type="http://schemas.openxmlformats.org/officeDocument/2006/relationships/officeDocument" Target="/ppt/presentation.xml" Id="R4f6ba431abe14e07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b5e49058eba24439"/>
  </p:sldMasterIdLst>
  <p:notesMasterIdLst>
    <p:notesMasterId xmlns:r="http://schemas.openxmlformats.org/officeDocument/2006/relationships" r:id="R39f80a57902a4d20"/>
  </p:notesMasterIdLst>
  <p:sldIdLst>
    <p:sldId xmlns:r="http://schemas.openxmlformats.org/officeDocument/2006/relationships" id="256" r:id="R9616cdf6fe7d4ef9"/>
    <p:sldId xmlns:r="http://schemas.openxmlformats.org/officeDocument/2006/relationships" id="257" r:id="R53e6ac42d1ba4358"/>
    <p:sldId xmlns:r="http://schemas.openxmlformats.org/officeDocument/2006/relationships" id="258" r:id="R1b016081a1dd4740"/>
    <p:sldId xmlns:r="http://schemas.openxmlformats.org/officeDocument/2006/relationships" id="259" r:id="R973a8736590246a0"/>
    <p:sldId xmlns:r="http://schemas.openxmlformats.org/officeDocument/2006/relationships" id="260" r:id="R7738c5f4eaf44a82"/>
    <p:sldId xmlns:r="http://schemas.openxmlformats.org/officeDocument/2006/relationships" id="261" r:id="Rb7d86f86d28041b6"/>
    <p:sldId xmlns:r="http://schemas.openxmlformats.org/officeDocument/2006/relationships" id="262" r:id="R8c44f916a90f48ce"/>
    <p:sldId xmlns:r="http://schemas.openxmlformats.org/officeDocument/2006/relationships" id="263" r:id="R511e4c7dfc0b4454"/>
  </p:sldIdLst>
  <p:sldSz cx="12192000" cy="6858000"/>
  <p:notesSz cx="6858000" cy="9144000"/>
  <p:embeddedFontLst>
    <p:embeddedFont>
      <p:font typeface="Lora Medium"/>
      <p:regular xmlns:r="http://schemas.openxmlformats.org/officeDocument/2006/relationships" r:id="Rf20414dbba484e2e"/>
      <p:italic xmlns:r="http://schemas.openxmlformats.org/officeDocument/2006/relationships" r:id="Rfcbc62aecfaf4b44"/>
    </p:embeddedFont>
    <p:embeddedFont>
      <p:font typeface="Lora SemiBold"/>
      <p:regular xmlns:r="http://schemas.openxmlformats.org/officeDocument/2006/relationships" r:id="Rae8ed455840a4756"/>
      <p:bold xmlns:r="http://schemas.openxmlformats.org/officeDocument/2006/relationships" r:id="Rdd655d2f0e3345f1"/>
      <p:italic xmlns:r="http://schemas.openxmlformats.org/officeDocument/2006/relationships" r:id="R21cb759203d64d88"/>
      <p:boldItalic xmlns:r="http://schemas.openxmlformats.org/officeDocument/2006/relationships" r:id="R2bb9c95efee54b00"/>
    </p:embeddedFont>
    <p:embeddedFont>
      <p:font typeface="OpenAI Sans"/>
      <p:regular xmlns:r="http://schemas.openxmlformats.org/officeDocument/2006/relationships" r:id="R6754f0b4564a4f44"/>
      <p:bold xmlns:r="http://schemas.openxmlformats.org/officeDocument/2006/relationships" r:id="R577d3e4146ee4da2"/>
      <p:italic xmlns:r="http://schemas.openxmlformats.org/officeDocument/2006/relationships" r:id="R10f3721389614fd0"/>
      <p:boldItalic xmlns:r="http://schemas.openxmlformats.org/officeDocument/2006/relationships" r:id="Rd4ead9bbfd914db7"/>
    </p:embeddedFont>
    <p:embeddedFont>
      <p:font typeface="Roboto"/>
      <p:regular xmlns:r="http://schemas.openxmlformats.org/officeDocument/2006/relationships" r:id="Rec483c4452024db9"/>
      <p:bold xmlns:r="http://schemas.openxmlformats.org/officeDocument/2006/relationships" r:id="R6146442d98cb466c"/>
      <p:italic xmlns:r="http://schemas.openxmlformats.org/officeDocument/2006/relationships" r:id="R26e7791b5b6a40d0"/>
      <p:boldItalic xmlns:r="http://schemas.openxmlformats.org/officeDocument/2006/relationships" r:id="R7cc9bfea36834d17"/>
    </p:embeddedFont>
    <p:embeddedFont>
      <p:font typeface="Roboto Medium"/>
      <p:regular xmlns:r="http://schemas.openxmlformats.org/officeDocument/2006/relationships" r:id="Refb0128b1eff4fcc"/>
      <p:italic xmlns:r="http://schemas.openxmlformats.org/officeDocument/2006/relationships" r:id="R59e20395a57e4177"/>
    </p:embeddedFont>
    <p:embeddedFont>
      <p:font typeface="Roboto SemiBold"/>
      <p:regular xmlns:r="http://schemas.openxmlformats.org/officeDocument/2006/relationships" r:id="R0bf503cfc6bf47e6"/>
      <p:bold xmlns:r="http://schemas.openxmlformats.org/officeDocument/2006/relationships" r:id="R80daa57cb98b49a8"/>
      <p:italic xmlns:r="http://schemas.openxmlformats.org/officeDocument/2006/relationships" r:id="Rd91faa2c84d6445d"/>
      <p:boldItalic xmlns:r="http://schemas.openxmlformats.org/officeDocument/2006/relationships" r:id="Rcc5138f6e893447a"/>
    </p:embeddedFont>
    <p:embeddedFont>
      <p:font typeface="Roboto Serif 14pt"/>
      <p:regular xmlns:r="http://schemas.openxmlformats.org/officeDocument/2006/relationships" r:id="R9f4a573ac0224e82"/>
      <p:bold xmlns:r="http://schemas.openxmlformats.org/officeDocument/2006/relationships" r:id="R877ee1e160e544d4"/>
      <p:italic xmlns:r="http://schemas.openxmlformats.org/officeDocument/2006/relationships" r:id="Rd03d469995b04ae1"/>
      <p:boldItalic xmlns:r="http://schemas.openxmlformats.org/officeDocument/2006/relationships" r:id="R2addec7cee214c95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1dc753d7474bdb" /><Relationship Type="http://schemas.openxmlformats.org/officeDocument/2006/relationships/slideMaster" Target="/ppt/slideMasters/slideMaster1.xml" Id="Rb5e49058eba24439" /><Relationship Type="http://schemas.openxmlformats.org/officeDocument/2006/relationships/notesMaster" Target="/ppt/notesMasters/notesMaster1.xml" Id="R39f80a57902a4d20" /><Relationship Type="http://schemas.openxmlformats.org/officeDocument/2006/relationships/presProps" Target="/ppt/presProps.xml" Id="R5a58694f15f34daa" /><Relationship Type="http://schemas.openxmlformats.org/officeDocument/2006/relationships/viewProps" Target="/ppt/viewProps.xml" Id="Rd1baa4b5694e478f" /><Relationship Type="http://schemas.openxmlformats.org/officeDocument/2006/relationships/tableStyles" Target="/ppt/tableStyles.xml" Id="R34c93424397b4754" /><Relationship Type="http://schemas.openxmlformats.org/officeDocument/2006/relationships/font" Target="/ppt/fonts/font.dat" Id="Rf20414dbba484e2e" /><Relationship Type="http://schemas.openxmlformats.org/officeDocument/2006/relationships/font" Target="/ppt/fonts/font2.dat" Id="Rfcbc62aecfaf4b44" /><Relationship Type="http://schemas.openxmlformats.org/officeDocument/2006/relationships/font" Target="/ppt/fonts/font3.dat" Id="Rae8ed455840a4756" /><Relationship Type="http://schemas.openxmlformats.org/officeDocument/2006/relationships/font" Target="/ppt/fonts/font4.dat" Id="Rdd655d2f0e3345f1" /><Relationship Type="http://schemas.openxmlformats.org/officeDocument/2006/relationships/font" Target="/ppt/fonts/font5.dat" Id="R21cb759203d64d88" /><Relationship Type="http://schemas.openxmlformats.org/officeDocument/2006/relationships/font" Target="/ppt/fonts/font6.dat" Id="R2bb9c95efee54b00" /><Relationship Type="http://schemas.openxmlformats.org/officeDocument/2006/relationships/font" Target="/ppt/fonts/font7.dat" Id="R6754f0b4564a4f44" /><Relationship Type="http://schemas.openxmlformats.org/officeDocument/2006/relationships/font" Target="/ppt/fonts/font8.dat" Id="R577d3e4146ee4da2" /><Relationship Type="http://schemas.openxmlformats.org/officeDocument/2006/relationships/font" Target="/ppt/fonts/font9.dat" Id="R10f3721389614fd0" /><Relationship Type="http://schemas.openxmlformats.org/officeDocument/2006/relationships/font" Target="/ppt/fonts/font10.dat" Id="Rd4ead9bbfd914db7" /><Relationship Type="http://schemas.openxmlformats.org/officeDocument/2006/relationships/font" Target="/ppt/fonts/font11.dat" Id="Rec483c4452024db9" /><Relationship Type="http://schemas.openxmlformats.org/officeDocument/2006/relationships/font" Target="/ppt/fonts/font12.dat" Id="R6146442d98cb466c" /><Relationship Type="http://schemas.openxmlformats.org/officeDocument/2006/relationships/font" Target="/ppt/fonts/font13.dat" Id="R26e7791b5b6a40d0" /><Relationship Type="http://schemas.openxmlformats.org/officeDocument/2006/relationships/font" Target="/ppt/fonts/font14.dat" Id="R7cc9bfea36834d17" /><Relationship Type="http://schemas.openxmlformats.org/officeDocument/2006/relationships/font" Target="/ppt/fonts/font15.dat" Id="Refb0128b1eff4fcc" /><Relationship Type="http://schemas.openxmlformats.org/officeDocument/2006/relationships/font" Target="/ppt/fonts/font16.dat" Id="R59e20395a57e4177" /><Relationship Type="http://schemas.openxmlformats.org/officeDocument/2006/relationships/font" Target="/ppt/fonts/font17.dat" Id="R0bf503cfc6bf47e6" /><Relationship Type="http://schemas.openxmlformats.org/officeDocument/2006/relationships/font" Target="/ppt/fonts/font18.dat" Id="R80daa57cb98b49a8" /><Relationship Type="http://schemas.openxmlformats.org/officeDocument/2006/relationships/font" Target="/ppt/fonts/font19.dat" Id="Rd91faa2c84d6445d" /><Relationship Type="http://schemas.openxmlformats.org/officeDocument/2006/relationships/font" Target="/ppt/fonts/font20.dat" Id="Rcc5138f6e893447a" /><Relationship Type="http://schemas.openxmlformats.org/officeDocument/2006/relationships/font" Target="/ppt/fonts/font21.dat" Id="R9f4a573ac0224e82" /><Relationship Type="http://schemas.openxmlformats.org/officeDocument/2006/relationships/font" Target="/ppt/fonts/font22.dat" Id="R877ee1e160e544d4" /><Relationship Type="http://schemas.openxmlformats.org/officeDocument/2006/relationships/font" Target="/ppt/fonts/font23.dat" Id="Rd03d469995b04ae1" /><Relationship Type="http://schemas.openxmlformats.org/officeDocument/2006/relationships/font" Target="/ppt/fonts/font24.dat" Id="R2addec7cee214c95" /><Relationship Type="http://schemas.openxmlformats.org/officeDocument/2006/relationships/slide" Target="/ppt/slides/slide1.xml" Id="R9616cdf6fe7d4ef9" /><Relationship Type="http://schemas.openxmlformats.org/officeDocument/2006/relationships/slide" Target="/ppt/slides/slide2.xml" Id="R53e6ac42d1ba4358" /><Relationship Type="http://schemas.openxmlformats.org/officeDocument/2006/relationships/slide" Target="/ppt/slides/slide3.xml" Id="R1b016081a1dd4740" /><Relationship Type="http://schemas.openxmlformats.org/officeDocument/2006/relationships/slide" Target="/ppt/slides/slide4.xml" Id="R973a8736590246a0" /><Relationship Type="http://schemas.openxmlformats.org/officeDocument/2006/relationships/slide" Target="/ppt/slides/slide5.xml" Id="R7738c5f4eaf44a82" /><Relationship Type="http://schemas.openxmlformats.org/officeDocument/2006/relationships/slide" Target="/ppt/slides/slide6.xml" Id="Rb7d86f86d28041b6" /><Relationship Type="http://schemas.openxmlformats.org/officeDocument/2006/relationships/slide" Target="/ppt/slides/slide7.xml" Id="R8c44f916a90f48ce" /><Relationship Type="http://schemas.openxmlformats.org/officeDocument/2006/relationships/slide" Target="/ppt/slides/slide8.xml" Id="R511e4c7dfc0b44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0a8fa7694948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80a57131e1435c" /><Relationship Type="http://schemas.openxmlformats.org/officeDocument/2006/relationships/notesMaster" Target="/ppt/notesMasters/notesMaster1.xml" Id="Re608b16395ac48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ea33c6e2e04d21" /><Relationship Type="http://schemas.openxmlformats.org/officeDocument/2006/relationships/notesMaster" Target="/ppt/notesMasters/notesMaster1.xml" Id="Rad8fdca6b09c47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cbe87325e04e3b" /><Relationship Type="http://schemas.openxmlformats.org/officeDocument/2006/relationships/notesMaster" Target="/ppt/notesMasters/notesMaster1.xml" Id="R49edb87966b94b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2f8458e5604b28" /><Relationship Type="http://schemas.openxmlformats.org/officeDocument/2006/relationships/notesMaster" Target="/ppt/notesMasters/notesMaster1.xml" Id="Rf858c3e8e36b49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368912a2f1456e" /><Relationship Type="http://schemas.openxmlformats.org/officeDocument/2006/relationships/notesMaster" Target="/ppt/notesMasters/notesMaster1.xml" Id="R570c80d0917749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c092e213e5411a" /><Relationship Type="http://schemas.openxmlformats.org/officeDocument/2006/relationships/notesMaster" Target="/ppt/notesMasters/notesMaster1.xml" Id="R10bab9f2817944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63287f9d88436a" /><Relationship Type="http://schemas.openxmlformats.org/officeDocument/2006/relationships/notesMaster" Target="/ppt/notesMasters/notesMaster1.xml" Id="R9d6c662b98dd46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ed5e65a5124bca" /><Relationship Type="http://schemas.openxmlformats.org/officeDocument/2006/relationships/notesMaster" Target="/ppt/notesMasters/notesMaster1.xml" Id="Rc8dede4fdced4c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7e70cd42d741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6410f5b17d48b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f4d1af42e540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922de95c6040e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c7365392b7407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0005adb6ca4aa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0c36ee5cb941b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ee011976f14a6c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latin typeface="Lora SemiBold"/>
                <a:ea typeface="Lora SemiBold"/>
                <a:cs typeface="Lora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129411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87051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4930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46664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736176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875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17f662079c4ffa" /><Relationship Type="http://schemas.openxmlformats.org/officeDocument/2006/relationships/slideLayout" Target="/ppt/slideLayouts/slideLayout1.xml" Id="R2d65d62aec924c61" /><Relationship Type="http://schemas.openxmlformats.org/officeDocument/2006/relationships/slideLayout" Target="/ppt/slideLayouts/slideLayout2.xml" Id="R3c4671f2b2c24a25" /><Relationship Type="http://schemas.openxmlformats.org/officeDocument/2006/relationships/slideLayout" Target="/ppt/slideLayouts/slideLayout3.xml" Id="R35ac68c25a4d4d2d" /><Relationship Type="http://schemas.openxmlformats.org/officeDocument/2006/relationships/slideLayout" Target="/ppt/slideLayouts/slideLayout4.xml" Id="R3b7cfaa0e93c43d0" /><Relationship Type="http://schemas.openxmlformats.org/officeDocument/2006/relationships/slideLayout" Target="/ppt/slideLayouts/slideLayout5.xml" Id="R3ebe8968fd3b4917" /><Relationship Type="http://schemas.openxmlformats.org/officeDocument/2006/relationships/slideLayout" Target="/ppt/slideLayouts/slideLayout6.xml" Id="R675d81f7b7e94008" /><Relationship Type="http://schemas.openxmlformats.org/officeDocument/2006/relationships/slideLayout" Target="/ppt/slideLayouts/slideLayout7.xml" Id="Rd99acdcf09e04eec" /><Relationship Type="http://schemas.openxmlformats.org/officeDocument/2006/relationships/slideLayout" Target="/ppt/slideLayouts/slideLayout8.xml" Id="R2550a21f45f34b6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311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65d62aec924c61"/>
    <p:sldLayoutId xmlns:r="http://schemas.openxmlformats.org/officeDocument/2006/relationships" id="2147483650" r:id="R3c4671f2b2c24a25"/>
    <p:sldLayoutId xmlns:r="http://schemas.openxmlformats.org/officeDocument/2006/relationships" id="2147483651" r:id="R35ac68c25a4d4d2d"/>
    <p:sldLayoutId xmlns:r="http://schemas.openxmlformats.org/officeDocument/2006/relationships" id="2147483652" r:id="R3b7cfaa0e93c43d0"/>
    <p:sldLayoutId xmlns:r="http://schemas.openxmlformats.org/officeDocument/2006/relationships" id="2147483653" r:id="R3ebe8968fd3b4917"/>
    <p:sldLayoutId xmlns:r="http://schemas.openxmlformats.org/officeDocument/2006/relationships" id="2147483654" r:id="R675d81f7b7e94008"/>
    <p:sldLayoutId xmlns:r="http://schemas.openxmlformats.org/officeDocument/2006/relationships" id="2147483655" r:id="Rd99acdcf09e04eec"/>
    <p:sldLayoutId xmlns:r="http://schemas.openxmlformats.org/officeDocument/2006/relationships" id="2147483656" r:id="R2550a21f45f34b63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Lora SemiBold"/>
          <a:ea typeface="Lora SemiBold"/>
          <a:cs typeface="Lora SemiBold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520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cdc1306e04677" /><Relationship Type="http://schemas.openxmlformats.org/officeDocument/2006/relationships/notesSlide" Target="/ppt/notesSlides/notesSlide1.xml" Id="Re562e97e44e546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4e4c9d00624fd4" /><Relationship Type="http://schemas.openxmlformats.org/officeDocument/2006/relationships/notesSlide" Target="/ppt/notesSlides/notesSlide2.xml" Id="Rd4e6bacb7f3341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a76e09798b458a" /><Relationship Type="http://schemas.openxmlformats.org/officeDocument/2006/relationships/notesSlide" Target="/ppt/notesSlides/notesSlide3.xml" Id="R44579aae189d42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b22d666d8d48f2" /><Relationship Type="http://schemas.openxmlformats.org/officeDocument/2006/relationships/notesSlide" Target="/ppt/notesSlides/notesSlide4.xml" Id="Rc2ffa79a1c2d4e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1906effa464941" /><Relationship Type="http://schemas.openxmlformats.org/officeDocument/2006/relationships/notesSlide" Target="/ppt/notesSlides/notesSlide5.xml" Id="Rff105c7ca74144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93958905af433e" /><Relationship Type="http://schemas.openxmlformats.org/officeDocument/2006/relationships/notesSlide" Target="/ppt/notesSlides/notesSlide6.xml" Id="R3fd8f0d7afc946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1815166f344406e" /><Relationship Type="http://schemas.openxmlformats.org/officeDocument/2006/relationships/notesSlide" Target="/ppt/notesSlides/notesSlide7.xml" Id="R040c40033ee946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b6671a2144cc6" /><Relationship Type="http://schemas.openxmlformats.org/officeDocument/2006/relationships/notesSlide" Target="/ppt/notesSlides/notesSlide8.xml" Id="R5693702fe1b54f2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06809B0-D483-45C1-B580-B57BB5CC520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9969" y="1444887"/>
            <a:ext cx="9448800" cy="1726468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5500">
                <a:solidFill>
                  <a:schemeClr val="accent1"/>
                </a:solidFill>
                <a:latin typeface="Lora Medium"/>
                <a:ea typeface="Lora Medium"/>
                <a:cs typeface="Lora Medium"/>
              </a:rPr>
              <a:t>VNShop FE data &amp; search review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D11E6E-01C0-D6E4-28D7-D7F6B94AF6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3019" y="5077241"/>
            <a:ext cx="6304556" cy="1076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">
                <a:solidFill>
                  <a:schemeClr val="accent2">
                    <a:lumMod val="50000"/>
                  </a:schemeClr>
                </a:solidFill>
              </a:rPr>
              <a:t>A code-backed review of operator workflows, display-name contracts, and search coverage across the React FE and Spring services. Verdict: needs attention before the admin experience can scale.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C66AB198-0518-67DE-AB81-D65264FD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4606175"/>
            <a:ext cx="6304556" cy="3202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6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2026-07-22</a:t>
            </a:r>
          </a:p>
        </p:txBody>
      </p:sp>
      <p:sp>
        <p:nvSpPr>
          <p:cNvPr id="10" name="Subtitle 4">
            <a:extLst xmlns:a="http://schemas.openxmlformats.org/drawingml/2006/main">
              <a:ext uri="{FF2B5EF4-FFF2-40B4-BE49-F238E27FC236}">
                <a16:creationId xmlns:a16="http://schemas.microsoft.com/office/drawing/2014/main" id="{CC2E0538-5645-7BC8-CF3A-FDF31FD9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555606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2">
                    <a:lumMod val="90000"/>
                  </a:schemeClr>
                </a:solidFill>
                <a:latin typeface="Roboto Medium"/>
                <a:ea typeface="Roboto Medium"/>
                <a:cs typeface="Roboto Medium"/>
              </a:rPr>
              <a:t>VNShop Engineering</a:t>
            </a:r>
          </a:p>
        </p:txBody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30F993F6-3AF1-4AB7-A4DD-75B58081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3260" y="3934067"/>
            <a:ext cx="1255852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6850885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A825F27-5EDC-49D9-A347-259F579D12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699" y="2812968"/>
            <a:ext cx="5537200" cy="186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The FE can render names when a service supplies them, but several operator contracts emit only IDs or make names optional. The result is a fragmented investigation workflow.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FA62DC6-CEF7-4C66-ACCC-B2B86ED4A57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3</a:t>
            </a:fld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3548D03-1D0F-655D-DD48-D4BF5C80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111025"/>
            <a:ext cx="1844403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Quarter Status</a:t>
            </a:r>
          </a:p>
        </p:txBody>
      </p:sp>
      <p:sp>
        <p:nvSpPr>
          <p:cNvPr id="6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051D0BE-5D22-BCB4-EADF-44F16643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2826992"/>
            <a:ext cx="5537200" cy="10010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Keep catalog search in search-service. Build role-scoped read models for admin users, orders, disputes, payouts, and moderation queues.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E26938C-7FB7-798D-7C48-98893273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2344035"/>
            <a:ext cx="5537200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The single most important insight</a:t>
            </a:r>
          </a:p>
        </p:txBody>
      </p:sp>
      <p:sp>
        <p:nvSpPr>
          <p:cNvPr id="10" name="Title 2">
            <a:extLst xmlns:a="http://schemas.openxmlformats.org/drawingml/2006/main">
              <a:ext uri="{FF2B5EF4-FFF2-40B4-BE49-F238E27FC236}">
                <a16:creationId xmlns:a16="http://schemas.microsoft.com/office/drawing/2014/main" id="{944AF173-BF22-B5ED-B88F-9080D8699E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1046195"/>
            <a:ext cx="11403610" cy="62381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The FE is functional, but operator search is not a product capability yet</a:t>
            </a:r>
          </a:p>
        </p:txBody>
      </p:sp>
      <p:sp>
        <p:nvSpPr>
          <p:cNvPr id="11" name="Subtitle 4">
            <a:extLst xmlns:a="http://schemas.openxmlformats.org/drawingml/2006/main">
              <a:ext uri="{FF2B5EF4-FFF2-40B4-BE49-F238E27FC236}">
                <a16:creationId xmlns:a16="http://schemas.microsoft.com/office/drawing/2014/main" id="{42E9C51D-AB09-8D83-4157-006D5713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Executive Summary</a:t>
            </a:r>
          </a:p>
        </p:txBody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A9A55410-815B-4B17-A057-75347252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39769"/>
            <a:ext cx="55372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08E1773-B682-C5EE-6944-58546A38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4867987"/>
            <a:ext cx="5537200" cy="12002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Approve additive display projections: id + stable reference + displayName, plus server-side q filters and bounded pagination for operator lists.</a:t>
            </a: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C1F2FD8-0D30-C7BF-5234-6F0EE46F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4385030"/>
            <a:ext cx="5537200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The leadership decision required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16B487F-1A7A-C301-4AB8-8DC1C198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499" y="2093356"/>
            <a:ext cx="2271780" cy="402442"/>
          </a:xfrm>
          <a:prstGeom xmlns:a="http://schemas.openxmlformats.org/drawingml/2006/main" prst="roundRect">
            <a:avLst>
              <a:gd name="adj" fmla="val 15738"/>
            </a:avLst>
          </a:prstGeom>
          <a:solidFill xmlns:a="http://schemas.openxmlformats.org/drawingml/2006/main">
            <a:schemeClr val="accent1">
              <a:alpha val="24648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accent1"/>
                </a:solidFill>
              </a:rPr>
              <a:t>NEEDS ATTENTION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3AF61EC-DBA0-BFB1-3293-0BF5DB67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4756098"/>
            <a:ext cx="5537199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Bottom line</a:t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7E14DB1-10CD-1A00-06DC-F11F9056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51" y="5134071"/>
            <a:ext cx="5537200" cy="8603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Names exist in some payloads, but admin tables still fall back to UUIDs. User and order search stop at narrow, unpaginated endpoints.</a:t>
            </a:r>
          </a:p>
        </p:txBody>
      </p:sp>
    </p:spTree>
    <p:extLst>
      <p:ext uri="{BB962C8B-B14F-4D97-AF65-F5344CB8AC3E}">
        <p14:creationId xmlns:p14="http://schemas.microsoft.com/office/powerpoint/2010/main" val="206196449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The FE has search controls, but ownership is fragmented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5262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search-service exposes /search, /search/v2, suggest, and facets; paged/cursor results are designed for product discovery.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A4694142-7504-448C-B110-ABCB1A6DD41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49094"/>
            <a:ext cx="11404600" cy="63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 search box appears in several pages; only catalog search is a true server capability. Most operational searches are local filters over already-loaded arrays.</a:t>
            </a:r>
          </a:p>
        </p:txBody>
      </p:sp>
      <p:sp>
        <p:nvSpPr>
          <p:cNvPr id="1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14656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Current state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Catalog Search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GET /admin/users accepts email and phone only. Name is optional in the FE schema; no q/name/id/page.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Admin Users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GET /admin/orders accepts status only. The flat projection is capped at 200 and carries buyerId/sellerId, not names.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Admin Orders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Seller orders and payout rows filter in the browser. The BE returns lists without search terms or pagination.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Seller Queues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5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UUID fallbacks are a data-contract smell, not a formatting problem</a:t>
            </a: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BD5D3365-630B-7DA2-6578-D2DE7ACBBC0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55372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The repeated pattern is structural: the FE receives an identifier, cannot resolve a label in the same response, and promotes the identifier to the primary UI. That creates slow investigation and makes every page invent its own fallback.</a:t>
            </a: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3666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Primary labels should identify a person, shop, order, or product. IDs belong in detail views, copy actions, and audit metadata.</a:t>
            </a:r>
          </a:p>
        </p:txBody>
      </p:sp>
      <p:sp>
        <p:nvSpPr>
          <p:cNvPr id="2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4" y="218425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3354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OrderManagement prints orderId and buyerId. UserManagement prints orderId in history. Disputes and reviews print return/product IDs as the operator's context.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3" y="181325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Admin tables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2" y="152193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4" y="369301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3354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adminOrderSummarySchema has only buyerId/sellerId; payout sellerName and video uploaderName are optional. A missing join becomes a visible UUID.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3" y="332201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Optional names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2" y="303069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5" y="520177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6801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SellersApproval, PayoutsQueue, and SellerOrders filter loaded arrays. It looks like search but cannot reach records outside the current response.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4" y="483077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Local search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3" y="453945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1. Find a buyer by name or ID: unavailable.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2. Open the order queue: status-only.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3. Correlate buyer, seller, product, and return: raw UUIDs.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4. Resolve: action buttons exist, but the row lacks human-readable investigation context.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7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55026"/>
            <a:ext cx="7835900" cy="10292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The operator workflow breaks at correlation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Buyer + seller paths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Buyer order history has server pagination by status, but no keyword search or stable display reference. SellerOrders searches only subOrderId/orderId after GET /seller/orders/pending. Cart groups by sellerId and renders the ID when shopName is absent.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31093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Admin path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9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Prioritized review findings</a:t>
            </a: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mlns:a="http://schemas.openxmlformats.org/drawingml/2006/main" x="4752742" y="1549337"/>
          <a:ext xmlns:a="http://schemas.openxmlformats.org/drawingml/2006/main" cx="6778000" cy="4627827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694500"/>
                <a:gridCol w="1694500"/>
                <a:gridCol w="1694500"/>
                <a:gridCol w="1694500"/>
              </a:tblGrid>
              <a:tr h="55843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Priority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Boundary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Evidence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Recommendation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P1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Admin users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email/phone only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Add q + page; return name.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P1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Admin orders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status-only projection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Add q + Page; return buyer/shop names.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P1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UUID labels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orders, disputes, reviews, cart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Require display projections; IDs secondary.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P1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Video preview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string vs {url}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Align wire schema; add contract test.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P2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Payouts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sellerId; local filter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Add seller q/name and Page.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P2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Disputes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returnId only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Return order, buyer, and shop context.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P2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Seller orders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pending list; local ID filter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Add q/status/Page and display fields.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75B304C-27F3-8A33-E6D7-E2EFCA2F82B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1547039-AB2A-5CA1-49F7-26E9E716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774196"/>
            <a:ext cx="3606800" cy="32202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These are contract-level issues. Fixing only the React fallback will hide symptoms and preserve N+1 lookups.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136FB89-7449-CC90-F061-B6BF578E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564835"/>
            <a:ext cx="3606800" cy="11783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Several boundaries block a reliable operator experience.</a:t>
            </a:r>
          </a:p>
        </p:txBody>
      </p:sp>
    </p:spTree>
    <p:extLst>
      <p:ext uri="{BB962C8B-B14F-4D97-AF65-F5344CB8AC3E}">
        <p14:creationId xmlns:p14="http://schemas.microsoft.com/office/powerpoint/2010/main" val="25538949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Query contracts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>Define OperatorPage&lt;T&gt;, q, page, size (cap 100), and filters. Add display projections; preserve IDs and old fields for compatibility.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12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46838" cy="10348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Remediation can land as three additive contract slices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FE adoption</a:t>
            </a:r>
          </a:p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</a:rPr>
              <a:t>Replace raw ID primary labels with displayName/reference. Move search state into query keys; add loading, empty, error, and pagination states.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Contract proof</a:t>
            </a:r>
          </a:p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>
                <a:ln>
                  <a:noFill/>
                </a:ln>
                <a:solidFill>
                  <a:prstClr val="black"/>
                </a:solidFill>
              </a:rPr>
              <a:t>Add controller + security tests for q/name/pagination; Zod fixtures; Playwright admin/seller flows; verify no ID fallback in primary cells.</a:t>
            </a:r>
          </a:p>
        </p:txBody>
      </p:sp>
      <p:cxnSp>
        <p:nvCxnSpPr>
          <p:cNvPr id="30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Phase 1 / now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Phase 2 / next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Phase 3 / verify</a:t>
            </a: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32011EE4-C416-3EA2-180D-62404CE47D0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937510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500">
                <a:solidFill>
                  <a:schemeClr val="accent1"/>
                </a:solidFill>
              </a:rPr>
              <a:t>Fix operator search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119B400D-E218-8301-7E00-C5A55230DE5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1201" y="4532466"/>
            <a:ext cx="6458364" cy="138802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600">
                <a:solidFill>
                  <a:schemeClr val="accent2">
                    <a:lumMod val="50000"/>
                  </a:schemeClr>
                </a:solidFill>
              </a:rPr>
              <a:t>Next move</a:t>
            </a: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600">
                <a:solidFill>
                  <a:schemeClr val="accent2">
                    <a:lumMod val="50000"/>
                  </a:schemeClr>
                </a:solidFill>
              </a:rPr>
              <a:t>Implement the additive admin/user/order projections first. Track missing names as explicit contract failures, not silent UI fallbacks.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D91FE451-5162-4046-A21E-AEE843BF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3260" y="3934067"/>
            <a:ext cx="1255852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858355452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2026-07-22T12:02:31.3640000Z</dcterms:created>
  <dcterms:modified xsi:type="dcterms:W3CDTF">2026-07-22T12:02:31.3640000Z</dcterms:modified>
</coreProperties>
</file>